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BE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109728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1">
                <a:solidFill>
                  <a:srgbClr val="121F30"/>
                </a:solidFill>
                <a:latin typeface="Leelawadee UI"/>
              </a:rPr>
              <a:t>คู่มือใช้งานแดชบอร์ดรถ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874519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475569"/>
                </a:solidFill>
                <a:latin typeface="Leelawadee UI"/>
              </a:rPr>
              <a:t>แบบง่ายมาก สำหรับคนไม่ใช้คอม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80360" y="2971800"/>
            <a:ext cx="1828800" cy="9144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63240" y="3063240"/>
            <a:ext cx="1463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2563EB"/>
                </a:solidFill>
                <a:latin typeface="Leelawadee UI"/>
              </a:rPr>
              <a:t>เปิดเว็บ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60" y="2971800"/>
            <a:ext cx="1828800" cy="9144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49240" y="3063240"/>
            <a:ext cx="1463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2563EB"/>
                </a:solidFill>
                <a:latin typeface="Leelawadee UI"/>
              </a:rPr>
              <a:t>อัปเดต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2971800"/>
            <a:ext cx="1828800" cy="9144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3063240"/>
            <a:ext cx="1463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2563EB"/>
                </a:solidFill>
                <a:latin typeface="Leelawadee UI"/>
              </a:rPr>
              <a:t>เผยแพร่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617720"/>
            <a:ext cx="8503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16A34A"/>
                </a:solidFill>
                <a:latin typeface="Leelawadee UI"/>
              </a:rPr>
              <a:t>จำแค่ 3 เรื่องนี้ก็พอ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Leelawade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21F30"/>
                </a:solidFill>
                <a:latin typeface="Leelawadee UI"/>
              </a:rPr>
              <a:t>จำปุ่มหลัก 3 ปุ่ม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63040"/>
            <a:ext cx="3291840" cy="3291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572768"/>
            <a:ext cx="2834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75569"/>
                </a:solidFill>
                <a:latin typeface="Leelawadee U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993392"/>
            <a:ext cx="283464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563EB"/>
                </a:solidFill>
                <a:latin typeface="Leelawadee UI"/>
              </a:rPr>
              <a:t>START.bat
เปิดเว็บดูข้อมูล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463040"/>
            <a:ext cx="3291840" cy="32918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572768"/>
            <a:ext cx="2834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75569"/>
                </a:solidFill>
                <a:latin typeface="Leelawade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993392"/>
            <a:ext cx="283464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6A34A"/>
                </a:solidFill>
                <a:latin typeface="Leelawadee UI"/>
              </a:rPr>
              <a:t>MONTHLY_UPDATE.bat
ใส่ข้อมูลเดือนใหม่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291840" cy="3291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572768"/>
            <a:ext cx="2834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75569"/>
                </a:solidFill>
                <a:latin typeface="Leelawade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993392"/>
            <a:ext cx="283464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D97706"/>
                </a:solidFill>
                <a:latin typeface="Leelawadee UI"/>
              </a:rPr>
              <a:t>BUILD_RELEASE.bat
ตรวจก่อนปล่อยจริง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Leelawade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21F30"/>
                </a:solidFill>
                <a:latin typeface="Leelawadee UI"/>
              </a:rPr>
              <a:t>เปิดเว็บดูข้อมูล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353312"/>
            <a:ext cx="960120" cy="457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6A34A"/>
                </a:solidFill>
                <a:latin typeface="Leelawadee UI"/>
              </a:rPr>
              <a:t>ทำ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132588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21F30"/>
                </a:solidFill>
                <a:latin typeface="Leelawadee UI"/>
              </a:rPr>
              <a:t>ดับเบิลคลิก START.bat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67712"/>
            <a:ext cx="960120" cy="457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6A34A"/>
                </a:solidFill>
                <a:latin typeface="Leelawadee UI"/>
              </a:rPr>
              <a:t>ทำ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224028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21F30"/>
                </a:solidFill>
                <a:latin typeface="Leelawadee UI"/>
              </a:rPr>
              <a:t>รอให้เว็บเปิดเอง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182112"/>
            <a:ext cx="960120" cy="457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200400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6A34A"/>
                </a:solidFill>
                <a:latin typeface="Leelawadee UI"/>
              </a:rPr>
              <a:t>ทำ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15468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21F30"/>
                </a:solidFill>
                <a:latin typeface="Leelawadee UI"/>
              </a:rPr>
              <a:t>ถ้าเว็บไม่เปิด ให้เข้า http://localhost:3001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599432"/>
            <a:ext cx="960120" cy="4572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17720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DC2626"/>
                </a:solidFill>
                <a:latin typeface="Leelawadee UI"/>
              </a:rPr>
              <a:t>ห้าม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457200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21F30"/>
                </a:solidFill>
                <a:latin typeface="Leelawadee UI"/>
              </a:rPr>
              <a:t>ไม่ต้องแก้ไฟล์อะไร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Leelawade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21F30"/>
                </a:solidFill>
                <a:latin typeface="Leelawadee UI"/>
              </a:rPr>
              <a:t>อัปเดตเดือนใหม่ ต้องมีไฟล์ 2 ไฟล์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554480"/>
            <a:ext cx="4846320" cy="2286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664207"/>
            <a:ext cx="4389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75569"/>
                </a:solidFill>
                <a:latin typeface="Leelawadee UI"/>
              </a:rPr>
              <a:t>ไฟล์ที่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084831"/>
            <a:ext cx="438912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563EB"/>
                </a:solidFill>
                <a:latin typeface="Leelawadee UI"/>
              </a:rPr>
              <a:t>ยี่ห้อรถ + เชื้อเพลิง + จังหวัด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4846320" cy="2286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1664207"/>
            <a:ext cx="4389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75569"/>
                </a:solidFill>
                <a:latin typeface="Leelawadee UI"/>
              </a:rPr>
              <a:t>ไฟล์ที่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084831"/>
            <a:ext cx="438912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6A34A"/>
                </a:solidFill>
                <a:latin typeface="Leelawadee UI"/>
              </a:rPr>
              <a:t>ยี่ห้อรถ + รุ่นรถ + จังหวัด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434840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100" b="1">
                <a:solidFill>
                  <a:srgbClr val="121F30"/>
                </a:solidFill>
                <a:latin typeface="Leelawadee UI"/>
              </a:rPr>
              <a:t>ได้ไฟล์จาก DLT แล้วค่อยอัปเดต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Leelawade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21F30"/>
                </a:solidFill>
                <a:latin typeface="Leelawadee UI"/>
              </a:rPr>
              <a:t>วางไฟล์ไว้ที่โฟลเดอร์นี้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645920"/>
            <a:ext cx="8595360" cy="10515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37360"/>
            <a:ext cx="8229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2563EB"/>
                </a:solidFill>
                <a:latin typeface="Leelawadee UI"/>
              </a:rPr>
              <a:t>backend/raw data/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182112"/>
            <a:ext cx="960120" cy="457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200400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6A34A"/>
                </a:solidFill>
                <a:latin typeface="Leelawadee UI"/>
              </a:rPr>
              <a:t>ทำ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315468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ลบไฟล์ Excel เก่าออกก่อน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096512"/>
            <a:ext cx="960120" cy="457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114800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6A34A"/>
                </a:solidFill>
                <a:latin typeface="Leelawadee UI"/>
              </a:rPr>
              <a:t>ทำ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06908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วางไฟล์ใหม่แค่ 2 ไฟล์เท่านั้น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010912"/>
            <a:ext cx="960120" cy="4572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029200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DC2626"/>
                </a:solidFill>
                <a:latin typeface="Leelawadee UI"/>
              </a:rPr>
              <a:t>ห้าม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98348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21F30"/>
                </a:solidFill>
                <a:latin typeface="Leelawadee UI"/>
              </a:rPr>
              <a:t>อย่าเปิดไฟล์ Excel ค้างไว้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Leelawade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21F30"/>
                </a:solidFill>
                <a:latin typeface="Leelawadee UI"/>
              </a:rPr>
              <a:t>เริ่มอัปเดต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1417320"/>
            <a:ext cx="6675120" cy="10058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0" y="1508760"/>
            <a:ext cx="6309359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6A34A"/>
                </a:solidFill>
                <a:latin typeface="Leelawadee UI"/>
              </a:rPr>
              <a:t>ดับเบิลคลิก MONTHLY_UPDATE.bat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999232"/>
            <a:ext cx="960120" cy="457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017520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6A34A"/>
                </a:solidFill>
                <a:latin typeface="Leelawadee UI"/>
              </a:rPr>
              <a:t>ทำ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297180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21F30"/>
                </a:solidFill>
                <a:latin typeface="Leelawadee UI"/>
              </a:rPr>
              <a:t>รอจนหน้าต่างบอกว่าเสร็จ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913632"/>
            <a:ext cx="960120" cy="4572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931920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DC2626"/>
                </a:solidFill>
                <a:latin typeface="Leelawadee UI"/>
              </a:rPr>
              <a:t>ห้าม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88620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21F30"/>
                </a:solidFill>
                <a:latin typeface="Leelawadee UI"/>
              </a:rPr>
              <a:t>อย่าปิดหน้าต่างกลางทาง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828032"/>
            <a:ext cx="960120" cy="457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846320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6A34A"/>
                </a:solidFill>
                <a:latin typeface="Leelawadee UI"/>
              </a:rPr>
              <a:t>ทำ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80060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21F30"/>
                </a:solidFill>
                <a:latin typeface="Leelawadee UI"/>
              </a:rPr>
              <a:t>ถ้าล้มเหลว เว็บยังใช้ข้อมูลเก่าได้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Leelawade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21F30"/>
                </a:solidFill>
                <a:latin typeface="Leelawadee UI"/>
              </a:rPr>
              <a:t>รันเสร็จแล้ว อ่านสรุป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417320"/>
            <a:ext cx="8595360" cy="9601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508760"/>
            <a:ext cx="8229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2563EB"/>
                </a:solidFill>
                <a:latin typeface="Leelawadee UI"/>
              </a:rPr>
              <a:t>reports/monthly_operator_summary.txt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999232"/>
            <a:ext cx="960120" cy="457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017520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6A34A"/>
                </a:solidFill>
                <a:latin typeface="Leelawadee UI"/>
              </a:rPr>
              <a:t>ทำ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297180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21F30"/>
                </a:solidFill>
                <a:latin typeface="Leelawadee UI"/>
              </a:rPr>
              <a:t>ดูว่ารันสำเร็จหรือไม่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913632"/>
            <a:ext cx="960120" cy="457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931920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6A34A"/>
                </a:solidFill>
                <a:latin typeface="Leelawadee UI"/>
              </a:rPr>
              <a:t>ทำ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88620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21F30"/>
                </a:solidFill>
                <a:latin typeface="Leelawadee UI"/>
              </a:rPr>
              <a:t>ดูว่ามีรุ่นรถรอตรวจไหม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828032"/>
            <a:ext cx="960120" cy="457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846320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6A34A"/>
                </a:solidFill>
                <a:latin typeface="Leelawadee UI"/>
              </a:rPr>
              <a:t>ทำ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80060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ถ้ามีปัญหา ให้ส่งไฟล์สรุป + log ให้ AI or Mick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Leelawade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21F30"/>
                </a:solidFill>
                <a:latin typeface="Leelawadee UI"/>
              </a:rPr>
              <a:t>ถ้าเห็นคำว่า Pending ไม่ต้องตกใจ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5840" y="1600200"/>
            <a:ext cx="4754880" cy="265176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709928"/>
            <a:ext cx="4297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75569"/>
                </a:solidFill>
                <a:latin typeface="Leelawadee UI"/>
              </a:rPr>
              <a:t>Pending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130552"/>
            <a:ext cx="429768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D97706"/>
                </a:solidFill>
                <a:latin typeface="Leelawadee UI"/>
              </a:rPr>
              <a:t>แปลว่า
รอตรวจ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00200"/>
            <a:ext cx="4754880" cy="26517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1709928"/>
            <a:ext cx="4297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75569"/>
                </a:solidFill>
                <a:latin typeface="Leelawadee UI"/>
              </a:rPr>
              <a:t>ปลอดภัย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130552"/>
            <a:ext cx="429768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6A34A"/>
                </a:solidFill>
                <a:latin typeface="Leelawadee UI"/>
              </a:rPr>
              <a:t>ยังไม่เอาไปใส่
รายงาน BEV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800600"/>
            <a:ext cx="9418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121F30"/>
                </a:solidFill>
                <a:latin typeface="Leelawadee UI"/>
              </a:rPr>
              <a:t>ปล่อย pending ไว้ได้ ถ้ายังไม่มั่นใจ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Leelawade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21F30"/>
                </a:solidFill>
                <a:latin typeface="Leelawadee UI"/>
              </a:rPr>
              <a:t>อนุมัติ BEV ต้องมีหลักฐาน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261872"/>
            <a:ext cx="960120" cy="457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6A34A"/>
                </a:solidFill>
                <a:latin typeface="Leelawadee UI"/>
              </a:rPr>
              <a:t>ทำ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123444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21F30"/>
                </a:solidFill>
                <a:latin typeface="Leelawadee UI"/>
              </a:rPr>
              <a:t>ใช้คำว่า BEV เท่านั้น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76272"/>
            <a:ext cx="960120" cy="457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6A34A"/>
                </a:solidFill>
                <a:latin typeface="Leelawadee UI"/>
              </a:rPr>
              <a:t>ทำ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214884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21F30"/>
                </a:solidFill>
                <a:latin typeface="Leelawadee UI"/>
              </a:rPr>
              <a:t>ใส่หลักฐาน ใครตรวจ และวันที่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090672"/>
            <a:ext cx="960120" cy="4572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108960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DC2626"/>
                </a:solidFill>
                <a:latin typeface="Leelawadee UI"/>
              </a:rPr>
              <a:t>ห้าม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06324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21F30"/>
                </a:solidFill>
                <a:latin typeface="Leelawadee UI"/>
              </a:rPr>
              <a:t>ห้ามใช้คำว่า EV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005072"/>
            <a:ext cx="960120" cy="4572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023359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DC2626"/>
                </a:solidFill>
                <a:latin typeface="Leelawadee UI"/>
              </a:rPr>
              <a:t>ห้าม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977639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21F30"/>
                </a:solidFill>
                <a:latin typeface="Leelawadee UI"/>
              </a:rPr>
              <a:t>ห้ามเดาจากชื่อรุ่นอย่างเดียว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68880" y="5074920"/>
            <a:ext cx="7132320" cy="68580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5166359"/>
            <a:ext cx="676655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D97706"/>
                </a:solidFill>
                <a:latin typeface="Leelawadee UI"/>
              </a:rPr>
              <a:t>ไฟล์ที่แก้: backend/config/model_powertrain_review.csv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Leelawade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21F30"/>
                </a:solidFill>
                <a:latin typeface="Leelawadee UI"/>
              </a:rPr>
              <a:t>ก่อนเผยแพร่ ต้องตรวจใหญ่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1417320"/>
            <a:ext cx="667512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0" y="1508760"/>
            <a:ext cx="6309359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D97706"/>
                </a:solidFill>
                <a:latin typeface="Leelawadee UI"/>
              </a:rPr>
              <a:t>ดับเบิลคลิก BUILD_RELEASE.bat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999232"/>
            <a:ext cx="960120" cy="457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017520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6A34A"/>
                </a:solidFill>
                <a:latin typeface="Leelawadee UI"/>
              </a:rPr>
              <a:t>ทำ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297180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21F30"/>
                </a:solidFill>
                <a:latin typeface="Leelawadee UI"/>
              </a:rPr>
              <a:t>ถ้าผ่าน ค่อยเผยแพร่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913632"/>
            <a:ext cx="960120" cy="4572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931920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DC2626"/>
                </a:solidFill>
                <a:latin typeface="Leelawadee UI"/>
              </a:rPr>
              <a:t>ห้าม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88620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21F30"/>
                </a:solidFill>
                <a:latin typeface="Leelawadee UI"/>
              </a:rPr>
              <a:t>ถ้าไม่ผ่าน ห้ามเผยแพร่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828032"/>
            <a:ext cx="960120" cy="457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846320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6A34A"/>
                </a:solidFill>
                <a:latin typeface="Leelawadee UI"/>
              </a:rPr>
              <a:t>ทำ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80060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21F30"/>
                </a:solidFill>
                <a:latin typeface="Leelawadee UI"/>
              </a:rPr>
              <a:t>แก้ปัญหา แล้วรันใหม่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Leelawade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21F30"/>
                </a:solidFill>
                <a:latin typeface="Leelawadee UI"/>
              </a:rPr>
              <a:t>เผยแพร่เว็บบน GitHub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216152"/>
            <a:ext cx="960120" cy="457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6A34A"/>
                </a:solidFill>
                <a:latin typeface="Leelawadee UI"/>
              </a:rPr>
              <a:t>ทำ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11887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21F30"/>
                </a:solidFill>
                <a:latin typeface="Leelawadee UI"/>
              </a:rPr>
              <a:t>เข้า GitHub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39112"/>
            <a:ext cx="960120" cy="457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6A34A"/>
                </a:solidFill>
                <a:latin typeface="Leelawadee UI"/>
              </a:rPr>
              <a:t>ทำ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201168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21F30"/>
                </a:solidFill>
                <a:latin typeface="Leelawadee UI"/>
              </a:rPr>
              <a:t>กด 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862072"/>
            <a:ext cx="960120" cy="457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880360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6A34A"/>
                </a:solidFill>
                <a:latin typeface="Leelawadee UI"/>
              </a:rPr>
              <a:t>ทำ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83464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21F30"/>
                </a:solidFill>
                <a:latin typeface="Leelawadee UI"/>
              </a:rPr>
              <a:t>เลือก Deploy dashboard to GitHub Pages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685032"/>
            <a:ext cx="960120" cy="457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703320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6A34A"/>
                </a:solidFill>
                <a:latin typeface="Leelawadee UI"/>
              </a:rPr>
              <a:t>ทำ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65760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21F30"/>
                </a:solidFill>
                <a:latin typeface="Leelawadee UI"/>
              </a:rPr>
              <a:t>กด Run workflow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507992"/>
            <a:ext cx="960120" cy="457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526280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6A34A"/>
                </a:solidFill>
                <a:latin typeface="Leelawadee UI"/>
              </a:rPr>
              <a:t>ทำ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448056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21F30"/>
                </a:solidFill>
                <a:latin typeface="Leelawadee UI"/>
              </a:rPr>
              <a:t>รอให้เป็นสีเขียว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Leelawade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21F30"/>
                </a:solidFill>
                <a:latin typeface="Leelawadee UI"/>
              </a:rPr>
              <a:t>ลบได้ ถ้าอยากเก็บบ้านให้สะอาด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325880"/>
            <a:ext cx="3200400" cy="11887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435607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75569"/>
                </a:solidFill>
                <a:latin typeface="Leelawadee UI"/>
              </a:rPr>
              <a:t>ลบได้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856231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6A34A"/>
                </a:solidFill>
                <a:latin typeface="Leelawadee UI"/>
              </a:rPr>
              <a:t>logs/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325880"/>
            <a:ext cx="3200400" cy="11887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9160" y="1435607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75569"/>
                </a:solidFill>
                <a:latin typeface="Leelawadee UI"/>
              </a:rPr>
              <a:t>ลบได้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856231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6A34A"/>
                </a:solidFill>
                <a:latin typeface="Leelawadee UI"/>
              </a:rPr>
              <a:t>reports/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325880"/>
            <a:ext cx="3200400" cy="11887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435607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75569"/>
                </a:solidFill>
                <a:latin typeface="Leelawadee UI"/>
              </a:rPr>
              <a:t>ลบได้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1856231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6A34A"/>
                </a:solidFill>
                <a:latin typeface="Leelawadee UI"/>
              </a:rPr>
              <a:t>frontend/.next/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063240"/>
            <a:ext cx="3200400" cy="11887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172968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75569"/>
                </a:solidFill>
                <a:latin typeface="Leelawadee UI"/>
              </a:rPr>
              <a:t>ลบได้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93592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6A34A"/>
                </a:solidFill>
                <a:latin typeface="Leelawadee UI"/>
              </a:rPr>
              <a:t>__pycache__/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3063240"/>
            <a:ext cx="3200400" cy="11887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3172968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75569"/>
                </a:solidFill>
                <a:latin typeface="Leelawadee UI"/>
              </a:rPr>
              <a:t>ลบได้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593592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6A34A"/>
                </a:solidFill>
                <a:latin typeface="Leelawadee UI"/>
              </a:rPr>
              <a:t>.pytest_cache/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3063240"/>
            <a:ext cx="3200400" cy="11887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3172968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75569"/>
                </a:solidFill>
                <a:latin typeface="Leelawadee UI"/>
              </a:rPr>
              <a:t>ลบได้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593592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6A34A"/>
                </a:solidFill>
                <a:latin typeface="Leelawadee UI"/>
              </a:rPr>
              <a:t>.tmp/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257800"/>
            <a:ext cx="9875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D97706"/>
                </a:solidFill>
                <a:latin typeface="Leelawadee UI"/>
              </a:rPr>
              <a:t>ถ้าไม่แน่ใจ อย่าลบ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Leelawade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E2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21F30"/>
                </a:solidFill>
                <a:latin typeface="Leelawadee UI"/>
              </a:rPr>
              <a:t>ห้ามลบไฟล์สำคัญ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170432"/>
            <a:ext cx="960120" cy="4572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DC2626"/>
                </a:solidFill>
                <a:latin typeface="Leelawadee UI"/>
              </a:rPr>
              <a:t>ห้าม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114300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21F30"/>
                </a:solidFill>
                <a:latin typeface="Leelawadee UI"/>
              </a:rPr>
              <a:t>ห้ามลบ backend/config/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93391"/>
            <a:ext cx="960120" cy="4572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79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DC2626"/>
                </a:solidFill>
                <a:latin typeface="Leelawadee UI"/>
              </a:rPr>
              <a:t>ห้าม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96596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21F30"/>
                </a:solidFill>
                <a:latin typeface="Leelawadee UI"/>
              </a:rPr>
              <a:t>ห้ามลบ frontend/public/data/*.json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816351"/>
            <a:ext cx="960120" cy="4572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834639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DC2626"/>
                </a:solidFill>
                <a:latin typeface="Leelawadee UI"/>
              </a:rPr>
              <a:t>ห้าม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7889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21F30"/>
                </a:solidFill>
                <a:latin typeface="Leelawadee UI"/>
              </a:rPr>
              <a:t>ห้ามลบ backend/output/test_9_masterModel.xlsx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639312"/>
            <a:ext cx="960120" cy="4572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657600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DC2626"/>
                </a:solidFill>
                <a:latin typeface="Leelawadee UI"/>
              </a:rPr>
              <a:t>ห้าม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61188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21F30"/>
                </a:solidFill>
                <a:latin typeface="Leelawadee UI"/>
              </a:rPr>
              <a:t>ห้ามแก้ JSON ด้วยมือ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462272"/>
            <a:ext cx="960120" cy="4572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80559"/>
            <a:ext cx="960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DC2626"/>
                </a:solidFill>
                <a:latin typeface="Leelawadee UI"/>
              </a:rPr>
              <a:t>ห้าม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443484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21F30"/>
                </a:solidFill>
                <a:latin typeface="Leelawadee UI"/>
              </a:rPr>
              <a:t>ห้ามเผยแพร่ ถ้า BUILD_RELEASE.bat ไม่ผ่าน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623560"/>
            <a:ext cx="9692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DC2626"/>
                </a:solidFill>
                <a:latin typeface="Leelawadee UI"/>
              </a:rPr>
              <a:t>กฎทอง: ไม่มั่นใจ = หยุด แล้วถาม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46520"/>
            <a:ext cx="685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Leelawadee U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