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handoffs/release-summary-and-takeover-2026-07-24.md</a:t>
            </a:r>
          </a:p>
          <a:p>
            <a:r>
              <a:t>- 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docs/THAI_OPERATOR_MONTHLY_GUIDE.md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handoffs/release-summary-and-takeover-2026-07-24.md</a:t>
            </a:r>
          </a:p>
          <a:p>
            <a:r>
              <a:t>- frontend/RUN.bat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docs/THAI_OPERATOR_MONTHLY_GUIDE.md</a:t>
            </a:r>
          </a:p>
          <a:p>
            <a:r>
              <a:t>- MONTHLY_UPDATE.bat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handoffs/release-summary-and-takeover-2026-07-24.md</a:t>
            </a:r>
          </a:p>
          <a:p>
            <a:r>
              <a:t>- 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docs/THAI_OPERATOR_MONTHLY_GUIDE.md</a:t>
            </a:r>
          </a:p>
          <a:p>
            <a:r>
              <a:t>- backend/config/model_powertrain_review.csv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docs/THAI_OPERATOR_MONTHLY_GUIDE.md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handoffs/manual-report-comparison-final-handoff-2026-07-24.md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docs/THAI_OPERATOR_MONTHLY_GUIDE.md</a:t>
            </a:r>
          </a:p>
          <a:p>
            <a:r>
              <a:t>- handoffs/release-summary-and-takeover-2026-07-24.md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handoffs/release-summary-and-takeover-2026-07-24.md</a:t>
            </a:r>
          </a:p>
          <a:p>
            <a:r>
              <a:t>- docs/THAI_OPERATOR_MONTHLY_GUIDE.md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69DD99-D81E-4A7A-90D2-CF873BCF8F4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คู่มือรับช่วงต่อ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E55F59-C1CB-42E4-9B27-E8778FBA1B58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857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ระบบ Dashboard ข้อมูลรถใหม่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BA74F-5830-4F63-9B31-608EA9AEA3EE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8096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สำหรับผู้ดูแลที่ไม่ต้องเขียนโค้ด</a:t>
            </a:r>
          </a:p>
          <a:p>
            <a:pPr algn="l">
              <a:defRPr sz="2100" b="0">
                <a:solidFill>
                  <a:srgbClr val="4B5563"/>
                </a:solidFill>
              </a:defRPr>
            </a:pPr>
            <a:r>
              <a:rPr sz="2100" b="0">
                <a:solidFill>
                  <a:srgbClr val="4B5563"/>
                </a:solidFill>
              </a:rPr>
              <a:t>เปิดเว็บได้ อัปเดตรายเดือนได้ และรู้ว่าต้องส่งอะไรให้คนเทคนิคเมื่อมีปัญหา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F61379-E4FE-45D9-A7A6-3A6EFFBE33F1}"/>
              </a:ext>
            </a:extLst>
          </p:cNvPr>
          <p:cNvSpPr>
            <a:spLocks noGrp="1"/>
          </p:cNvSpPr>
          <p:nvPr/>
        </p:nvSpPr>
        <p:spPr>
          <a:xfrm>
            <a:off x="8905875" y="838200"/>
            <a:ext cx="2381250" cy="447675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07EEFC-C8FD-4F31-998A-53BFFD3941CB}"/>
              </a:ext>
            </a:extLst>
          </p:cNvPr>
          <p:cNvSpPr>
            <a:spLocks noGrp="1"/>
          </p:cNvSpPr>
          <p:nvPr/>
        </p:nvSpPr>
        <p:spPr>
          <a:xfrm>
            <a:off x="9296400" y="13906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เริ่มที่ไฟล์นี้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1B151-8054-47D2-8ACF-D477FB7AEE1B}"/>
              </a:ext>
            </a:extLst>
          </p:cNvPr>
          <p:cNvSpPr>
            <a:spLocks noGrp="1"/>
          </p:cNvSpPr>
          <p:nvPr/>
        </p:nvSpPr>
        <p:spPr>
          <a:xfrm>
            <a:off x="9124950" y="2114550"/>
            <a:ext cx="2076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TAKEOVER.bat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FE8CC-0E35-44CB-8452-CCB5D23A4290}"/>
              </a:ext>
            </a:extLst>
          </p:cNvPr>
          <p:cNvSpPr>
            <a:spLocks noGrp="1"/>
          </p:cNvSpPr>
          <p:nvPr/>
        </p:nvSpPr>
        <p:spPr>
          <a:xfrm>
            <a:off x="9296400" y="2857500"/>
            <a:ext cx="1676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ดับเบิลคลิก</a:t>
            </a:r>
          </a:p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แล้วเลือกเมนูตามงาน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0A268C-E835-4B53-A442-C90AE24DD104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70924-7196-4828-97BB-AF09786451E6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851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687CD3B-AADF-4125-8D04-FCA29AF6466F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จำแค่ 3 งานหลัก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8B172-0D8A-42E8-8A25-48D54DD99703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7145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939B5-33FD-41B5-9DAB-204AA954E518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143250" cy="3143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0ACAF-2C0B-43B5-A559-AFA9B45EFCF0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8E6AC-30AA-4A75-A658-1A5FE4300B4A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เปิดเว็บ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28C9D-EE58-47F4-89DF-8F2B1CED6535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ใช้ดู Dashboard</a:t>
            </a:r>
          </a:p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และหน้า Manual Report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4E01E-BA1C-4CEA-85B6-CC36499810BF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3143250" cy="314325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0E763A-B0E9-4DE4-A8B7-EC585BE49E53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047857"/>
                </a:solidFill>
              </a:defRPr>
            </a:pPr>
            <a:r>
              <a:rPr sz="345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16BD4-E18E-46FB-AEF7-9D4E0709D27D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อัปเดตข้อมูล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49C050-29BF-4202-94B7-C80765096295}"/>
              </a:ext>
            </a:extLst>
          </p:cNvPr>
          <p:cNvSpPr>
            <a:spLocks noGrp="1"/>
          </p:cNvSpPr>
          <p:nvPr/>
        </p:nvSpPr>
        <p:spPr>
          <a:xfrm>
            <a:off x="4667250" y="36576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เดือนละครั้ง</a:t>
            </a:r>
          </a:p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หลังได้ Excel 2 ไฟล์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DD8BA4-5B38-4BB4-87F0-07ADD6AE9FE5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3143250" cy="3143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69D7A-C235-4434-9956-E59990203EE3}"/>
              </a:ext>
            </a:extLst>
          </p:cNvPr>
          <p:cNvSpPr>
            <a:spLocks noGrp="1"/>
          </p:cNvSpPr>
          <p:nvPr/>
        </p:nvSpPr>
        <p:spPr>
          <a:xfrm>
            <a:off x="8401050" y="20764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EFBB81-5176-4617-B893-43624149346C}"/>
              </a:ext>
            </a:extLst>
          </p:cNvPr>
          <p:cNvSpPr>
            <a:spLocks noGrp="1"/>
          </p:cNvSpPr>
          <p:nvPr/>
        </p:nvSpPr>
        <p:spPr>
          <a:xfrm>
            <a:off x="8401050" y="28765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ตรวจรุ่นใหม่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B22EC6-B6CC-49F4-A12A-E06F478E6F68}"/>
              </a:ext>
            </a:extLst>
          </p:cNvPr>
          <p:cNvSpPr>
            <a:spLocks noGrp="1"/>
          </p:cNvSpPr>
          <p:nvPr/>
        </p:nvSpPr>
        <p:spPr>
          <a:xfrm>
            <a:off x="8401050" y="3657600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ทำเฉพาะเมื่อระบบบอกว่า</a:t>
            </a:r>
          </a:p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มีรุ่นรถ pending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EDF183-BCA8-41F1-ACF8-C473EE94B9E6}"/>
              </a:ext>
            </a:extLst>
          </p:cNvPr>
          <p:cNvSpPr>
            <a:spLocks noGrp="1"/>
          </p:cNvSpPr>
          <p:nvPr/>
        </p:nvSpPr>
        <p:spPr>
          <a:xfrm>
            <a:off x="876300" y="5467350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ไม่ต้องใช้ Git ไม่ต้องเปิด terminal ไม่ต้องแก้โค้ด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3A51F1-DCA1-4A8C-8BDE-A79FAF3A812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93F663-FA96-48FF-B961-E41F60D187E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696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F279334-2D8A-4D82-9C8D-C4544B2395E1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เปิดใช้งานครั้งแรกให้เริ่มจาก TAKEOVER.bat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026DD-0E71-4820-BB33-C9F2C1316C7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910B83-DB31-4DF4-B38B-324EB90EDAB6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9697FE-1D6C-40AA-B948-613B304809B3}"/>
              </a:ext>
            </a:extLst>
          </p:cNvPr>
          <p:cNvSpPr>
            <a:spLocks noGrp="1"/>
          </p:cNvSpPr>
          <p:nvPr/>
        </p:nvSpPr>
        <p:spPr>
          <a:xfrm>
            <a:off x="1428750" y="16764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เปิดโฟลเดอร์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3509D-A82B-4E87-BEC5-6724D301F5C7}"/>
              </a:ext>
            </a:extLst>
          </p:cNvPr>
          <p:cNvSpPr>
            <a:spLocks noGrp="1"/>
          </p:cNvSpPr>
          <p:nvPr/>
        </p:nvSpPr>
        <p:spPr>
          <a:xfrm>
            <a:off x="1428750" y="2095500"/>
            <a:ext cx="590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C:\dev\ai-reading-car-analysis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8F7E0C-0CEC-4B14-BB30-1D649E701D22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44F382-3CCA-4C1B-9556-5BA048970249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ดับเบิลคลิก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F54E5-990D-4973-9CE0-8B2C9D88F4F8}"/>
              </a:ext>
            </a:extLst>
          </p:cNvPr>
          <p:cNvSpPr>
            <a:spLocks noGrp="1"/>
          </p:cNvSpPr>
          <p:nvPr/>
        </p:nvSpPr>
        <p:spPr>
          <a:xfrm>
            <a:off x="1428750" y="3086100"/>
            <a:ext cx="590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TAKEOVER.bat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F5E5BD-C0C0-4272-ADD2-D390329039E1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8FC020-A656-474A-9D45-9E6208305347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เครื่องใหม่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30793-043D-4D0C-9E36-C47A8D3FBA38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590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เลือกข้อ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A4EC41-4654-4701-B335-51B1C8284C8E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01F1E1-F357-4306-AC22-0FB08C12B2B4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เปิดเว็บ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C8958-85F3-406B-B9A5-34A98F5A5783}"/>
              </a:ext>
            </a:extLst>
          </p:cNvPr>
          <p:cNvSpPr>
            <a:spLocks noGrp="1"/>
          </p:cNvSpPr>
          <p:nvPr/>
        </p:nvSpPr>
        <p:spPr>
          <a:xfrm>
            <a:off x="1428750" y="5067300"/>
            <a:ext cx="590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เลือกข้อ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89AD4C-C351-4229-92DA-8F71D60255D3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3143250" cy="20955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CF2B0-B51F-4E9B-8DB9-8A8FCFC57C83}"/>
              </a:ext>
            </a:extLst>
          </p:cNvPr>
          <p:cNvSpPr>
            <a:spLocks noGrp="1"/>
          </p:cNvSpPr>
          <p:nvPr/>
        </p:nvSpPr>
        <p:spPr>
          <a:xfrm>
            <a:off x="8324850" y="23241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เว็บอยู่ที่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6236C2-821B-4B64-A874-CB3FBFBE05D5}"/>
              </a:ext>
            </a:extLst>
          </p:cNvPr>
          <p:cNvSpPr>
            <a:spLocks noGrp="1"/>
          </p:cNvSpPr>
          <p:nvPr/>
        </p:nvSpPr>
        <p:spPr>
          <a:xfrm>
            <a:off x="8324850" y="295275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http://localhost:3001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57F4C5-F709-4FB2-B01F-AAA28913E225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76CC96-66E6-4F8C-A5BE-6351BA6651A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03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5EBD760-9EAC-4A9C-908B-0998501BD493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อัปเดตข้อมูลรายเดือน: ทำตามลำดับนี้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9046C-FD21-4148-975A-00EA8B7E820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7D0EC-238E-46DC-9538-1C7332120544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619250" cy="2095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71EC95-1FE6-4EA4-8EDA-7A60D4422D94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EA9A8-F005-4DA1-9C99-BB8279119182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วาง Excel 2 ไฟล์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1C9B3-4D26-47B8-B827-3425020FA117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backend\raw data\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B721E-C98C-43A1-A768-596E97F1411F}"/>
              </a:ext>
            </a:extLst>
          </p:cNvPr>
          <p:cNvSpPr>
            <a:spLocks noGrp="1"/>
          </p:cNvSpPr>
          <p:nvPr/>
        </p:nvSpPr>
        <p:spPr>
          <a:xfrm>
            <a:off x="2457450" y="28384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1D5DB"/>
                </a:solidFill>
              </a:defRPr>
            </a:pPr>
            <a:r>
              <a:rPr sz="2550" b="1">
                <a:solidFill>
                  <a:srgbClr val="D1D5DB"/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1BF823-73C4-40C5-B42C-E2BD519B2007}"/>
              </a:ext>
            </a:extLst>
          </p:cNvPr>
          <p:cNvSpPr>
            <a:spLocks noGrp="1"/>
          </p:cNvSpPr>
          <p:nvPr/>
        </p:nvSpPr>
        <p:spPr>
          <a:xfrm>
            <a:off x="2952750" y="2000250"/>
            <a:ext cx="1619250" cy="2095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00476-0568-4439-AAEF-1FF09B178469}"/>
              </a:ext>
            </a:extLst>
          </p:cNvPr>
          <p:cNvSpPr>
            <a:spLocks noGrp="1"/>
          </p:cNvSpPr>
          <p:nvPr/>
        </p:nvSpPr>
        <p:spPr>
          <a:xfrm>
            <a:off x="3124200" y="21907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9BEB0-7BAE-4428-88FC-17D031973982}"/>
              </a:ext>
            </a:extLst>
          </p:cNvPr>
          <p:cNvSpPr>
            <a:spLocks noGrp="1"/>
          </p:cNvSpPr>
          <p:nvPr/>
        </p:nvSpPr>
        <p:spPr>
          <a:xfrm>
            <a:off x="3124200" y="285750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ปิด Excel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DFA11-A870-4F78-B3AA-88F7197A1722}"/>
              </a:ext>
            </a:extLst>
          </p:cNvPr>
          <p:cNvSpPr>
            <a:spLocks noGrp="1"/>
          </p:cNvSpPr>
          <p:nvPr/>
        </p:nvSpPr>
        <p:spPr>
          <a:xfrm>
            <a:off x="3124200" y="36385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ทุกหน้าต่าง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865281-8876-4003-9681-3124379E5994}"/>
              </a:ext>
            </a:extLst>
          </p:cNvPr>
          <p:cNvSpPr>
            <a:spLocks noGrp="1"/>
          </p:cNvSpPr>
          <p:nvPr/>
        </p:nvSpPr>
        <p:spPr>
          <a:xfrm>
            <a:off x="4743450" y="28384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1D5DB"/>
                </a:solidFill>
              </a:defRPr>
            </a:pPr>
            <a:r>
              <a:rPr sz="2550" b="1">
                <a:solidFill>
                  <a:srgbClr val="D1D5DB"/>
                </a:solidFill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E08B3-BDBA-4BB1-99D0-4C8FEF4FBE3A}"/>
              </a:ext>
            </a:extLst>
          </p:cNvPr>
          <p:cNvSpPr>
            <a:spLocks noGrp="1"/>
          </p:cNvSpPr>
          <p:nvPr/>
        </p:nvSpPr>
        <p:spPr>
          <a:xfrm>
            <a:off x="5238750" y="2000250"/>
            <a:ext cx="1619250" cy="2095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3F1A2-C6B0-4DE9-AEF8-1D89430EE757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968ED7-98D6-4D64-A493-69E4131D68DE}"/>
              </a:ext>
            </a:extLst>
          </p:cNvPr>
          <p:cNvSpPr>
            <a:spLocks noGrp="1"/>
          </p:cNvSpPr>
          <p:nvPr/>
        </p:nvSpPr>
        <p:spPr>
          <a:xfrm>
            <a:off x="5410200" y="285750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ดับเบิลคลิก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19A85F-BD6D-4A55-97D8-33B50782E2B3}"/>
              </a:ext>
            </a:extLst>
          </p:cNvPr>
          <p:cNvSpPr>
            <a:spLocks noGrp="1"/>
          </p:cNvSpPr>
          <p:nvPr/>
        </p:nvSpPr>
        <p:spPr>
          <a:xfrm>
            <a:off x="5410200" y="36385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MONTHLY_UPDATE.bat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08818D-C4EC-4801-A617-5ED084225A5C}"/>
              </a:ext>
            </a:extLst>
          </p:cNvPr>
          <p:cNvSpPr>
            <a:spLocks noGrp="1"/>
          </p:cNvSpPr>
          <p:nvPr/>
        </p:nvSpPr>
        <p:spPr>
          <a:xfrm>
            <a:off x="7029450" y="28384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1D5DB"/>
                </a:solidFill>
              </a:defRPr>
            </a:pPr>
            <a:r>
              <a:rPr sz="2550" b="1">
                <a:solidFill>
                  <a:srgbClr val="D1D5DB"/>
                </a:solidFill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B4A22-DC97-4BC3-918A-E4B098457368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1619250" cy="2095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5AE034-30AB-42F8-B84B-280391C09940}"/>
              </a:ext>
            </a:extLst>
          </p:cNvPr>
          <p:cNvSpPr>
            <a:spLocks noGrp="1"/>
          </p:cNvSpPr>
          <p:nvPr/>
        </p:nvSpPr>
        <p:spPr>
          <a:xfrm>
            <a:off x="7696200" y="21907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995A9-A22A-40E0-9AC4-BE4F837FBF53}"/>
              </a:ext>
            </a:extLst>
          </p:cNvPr>
          <p:cNvSpPr>
            <a:spLocks noGrp="1"/>
          </p:cNvSpPr>
          <p:nvPr/>
        </p:nvSpPr>
        <p:spPr>
          <a:xfrm>
            <a:off x="7696200" y="285750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รอจนจบ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30FCD6-6EF7-4F93-93D5-7B1667EBB56C}"/>
              </a:ext>
            </a:extLst>
          </p:cNvPr>
          <p:cNvSpPr>
            <a:spLocks noGrp="1"/>
          </p:cNvSpPr>
          <p:nvPr/>
        </p:nvSpPr>
        <p:spPr>
          <a:xfrm>
            <a:off x="7696200" y="36385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ห้ามปิดกลางทาง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FEFF60-F49F-45B6-9058-933336ED2129}"/>
              </a:ext>
            </a:extLst>
          </p:cNvPr>
          <p:cNvSpPr>
            <a:spLocks noGrp="1"/>
          </p:cNvSpPr>
          <p:nvPr/>
        </p:nvSpPr>
        <p:spPr>
          <a:xfrm>
            <a:off x="9315450" y="283845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1D5DB"/>
                </a:solidFill>
              </a:defRPr>
            </a:pPr>
            <a:r>
              <a:rPr sz="2550" b="1">
                <a:solidFill>
                  <a:srgbClr val="D1D5DB"/>
                </a:solidFill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87BDEB-AB72-4321-A213-F8C74977ECB0}"/>
              </a:ext>
            </a:extLst>
          </p:cNvPr>
          <p:cNvSpPr>
            <a:spLocks noGrp="1"/>
          </p:cNvSpPr>
          <p:nvPr/>
        </p:nvSpPr>
        <p:spPr>
          <a:xfrm>
            <a:off x="9810750" y="2000250"/>
            <a:ext cx="1619250" cy="2095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2B73D8-C87B-45D7-BC56-1145E6CE77A7}"/>
              </a:ext>
            </a:extLst>
          </p:cNvPr>
          <p:cNvSpPr>
            <a:spLocks noGrp="1"/>
          </p:cNvSpPr>
          <p:nvPr/>
        </p:nvSpPr>
        <p:spPr>
          <a:xfrm>
            <a:off x="9982200" y="21907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47857"/>
                </a:solidFill>
              </a:defRPr>
            </a:pPr>
            <a:r>
              <a:rPr sz="2400" b="1">
                <a:solidFill>
                  <a:srgbClr val="047857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C75BAB-668C-4FAE-A4C1-488421C9C6A5}"/>
              </a:ext>
            </a:extLst>
          </p:cNvPr>
          <p:cNvSpPr>
            <a:spLocks noGrp="1"/>
          </p:cNvSpPr>
          <p:nvPr/>
        </p:nvSpPr>
        <p:spPr>
          <a:xfrm>
            <a:off x="9982200" y="2857500"/>
            <a:ext cx="1257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อ่านสรุป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2A915B-C6F1-493F-9D98-5E06CA0F047E}"/>
              </a:ext>
            </a:extLst>
          </p:cNvPr>
          <p:cNvSpPr>
            <a:spLocks noGrp="1"/>
          </p:cNvSpPr>
          <p:nvPr/>
        </p:nvSpPr>
        <p:spPr>
          <a:xfrm>
            <a:off x="9982200" y="3638550"/>
            <a:ext cx="1257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reports\monthly_operator_summary.txt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B805FE-B6E0-4E04-BD69-D22593B0B5A1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47857"/>
                </a:solidFill>
              </a:defRPr>
            </a:pPr>
            <a:r>
              <a:rPr sz="2175" b="1">
                <a:solidFill>
                  <a:srgbClr val="047857"/>
                </a:solidFill>
              </a:rPr>
              <a:t>ถ้ารันไม่ผ่าน ข้อมูลเก่าจะยังอยู่ ระบบจะไม่เผยแพร่ข้อมูลเสีย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C27057-E3FC-4ACB-BB13-86E9B526E879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7E835A-CF64-4810-975C-68DBE60CAEC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32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31942CF-F18F-49D1-A2FF-A00887131A6D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ไฟล์ไหนเปิดได้ ไฟล์ไหนห้ามแตะ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EA47E-682D-4198-B390-DD96BBC77AC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92400E"/>
          </a:solidFill>
          <a:ln w="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C2190-CC45-4B45-B626-CA4BE9345EAD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009650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D2ED6-6479-4364-84EE-1C553D7A04DE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เปิดได้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4C99A-4BFB-4279-9117-3A9CD0F529D6}"/>
              </a:ext>
            </a:extLst>
          </p:cNvPr>
          <p:cNvSpPr>
            <a:spLocks noGrp="1"/>
          </p:cNvSpPr>
          <p:nvPr/>
        </p:nvSpPr>
        <p:spPr>
          <a:xfrm>
            <a:off x="3143250" y="17716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TAKEOVER.bat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42198-2172-438A-8B82-9457C3FEE12B}"/>
              </a:ext>
            </a:extLst>
          </p:cNvPr>
          <p:cNvSpPr>
            <a:spLocks noGrp="1"/>
          </p:cNvSpPr>
          <p:nvPr/>
        </p:nvSpPr>
        <p:spPr>
          <a:xfrm>
            <a:off x="7429500" y="17907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เมนูเริ่มต้น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1B944-D150-4591-B4AA-3E218E1B7F6C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009650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DCFD7-DF53-4111-B3D4-3DF072234896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เปิดได้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7D535-315E-4F9F-B8F1-4794E08DB843}"/>
              </a:ext>
            </a:extLst>
          </p:cNvPr>
          <p:cNvSpPr>
            <a:spLocks noGrp="1"/>
          </p:cNvSpPr>
          <p:nvPr/>
        </p:nvSpPr>
        <p:spPr>
          <a:xfrm>
            <a:off x="3143250" y="2552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frontend\RUN.bat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C0691B-DC19-4692-80EA-B7A3AA9C0597}"/>
              </a:ext>
            </a:extLst>
          </p:cNvPr>
          <p:cNvSpPr>
            <a:spLocks noGrp="1"/>
          </p:cNvSpPr>
          <p:nvPr/>
        </p:nvSpPr>
        <p:spPr>
          <a:xfrm>
            <a:off x="7429500" y="2571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เปิด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B67595-CF00-4F5B-85C6-555E534AC14B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09650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0402BB-A2FA-450A-8CD8-02A6ECC2A370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เปิดได้เมื่ออัปเดต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A8004-18EA-4322-9B42-DDDF16A63E59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MONTHLY_UPDATE.bat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3F81C6-B47F-4717-B829-063622D1AEB4}"/>
              </a:ext>
            </a:extLst>
          </p:cNvPr>
          <p:cNvSpPr>
            <a:spLocks noGrp="1"/>
          </p:cNvSpPr>
          <p:nvPr/>
        </p:nvSpPr>
        <p:spPr>
          <a:xfrm>
            <a:off x="7429500" y="3352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รันข้อมูลรายเดือน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FE1A65-622D-4E1C-8A87-49730EEAFF0E}"/>
              </a:ext>
            </a:extLst>
          </p:cNvPr>
          <p:cNvSpPr>
            <a:spLocks noGrp="1"/>
          </p:cNvSpPr>
          <p:nvPr/>
        </p:nvSpPr>
        <p:spPr>
          <a:xfrm>
            <a:off x="666750" y="4019550"/>
            <a:ext cx="1009650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D8773-A206-41D0-BF00-6DB9CD275688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แก้ได้เฉพาะจำเป็น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17478-9C69-4C98-9448-10F621843BD7}"/>
              </a:ext>
            </a:extLst>
          </p:cNvPr>
          <p:cNvSpPr>
            <a:spLocks noGrp="1"/>
          </p:cNvSpPr>
          <p:nvPr/>
        </p:nvSpPr>
        <p:spPr>
          <a:xfrm>
            <a:off x="3143250" y="41148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model_powertrain_review.csv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568949-FCEA-434E-86DB-56F316F67276}"/>
              </a:ext>
            </a:extLst>
          </p:cNvPr>
          <p:cNvSpPr>
            <a:spLocks noGrp="1"/>
          </p:cNvSpPr>
          <p:nvPr/>
        </p:nvSpPr>
        <p:spPr>
          <a:xfrm>
            <a:off x="7429500" y="41338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ตรวจรุ่นรถใหม่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17CCB1-41A5-4C44-8C04-CB1095B7B6EE}"/>
              </a:ext>
            </a:extLst>
          </p:cNvPr>
          <p:cNvSpPr>
            <a:spLocks noGrp="1"/>
          </p:cNvSpPr>
          <p:nvPr/>
        </p:nvSpPr>
        <p:spPr>
          <a:xfrm>
            <a:off x="666750" y="4800600"/>
            <a:ext cx="10096500" cy="55245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63AC37-E8DB-4B82-A6AE-2647D46D5037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91C1C"/>
                </a:solidFill>
              </a:defRPr>
            </a:pPr>
            <a:r>
              <a:rPr sz="1500" b="1">
                <a:solidFill>
                  <a:srgbClr val="B91C1C"/>
                </a:solidFill>
              </a:rPr>
              <a:t>ห้ามแก้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9D1BF2-624F-4D43-93A5-298740F5B952}"/>
              </a:ext>
            </a:extLst>
          </p:cNvPr>
          <p:cNvSpPr>
            <a:spLocks noGrp="1"/>
          </p:cNvSpPr>
          <p:nvPr/>
        </p:nvSpPr>
        <p:spPr>
          <a:xfrm>
            <a:off x="3143250" y="48958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.py / .json / .bat อื่น ๆ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D5845B-1FB8-4974-9E3F-E417B6EC0A66}"/>
              </a:ext>
            </a:extLst>
          </p:cNvPr>
          <p:cNvSpPr>
            <a:spLocks noGrp="1"/>
          </p:cNvSpPr>
          <p:nvPr/>
        </p:nvSpPr>
        <p:spPr>
          <a:xfrm>
            <a:off x="7429500" y="49149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ให้คนเทคนิคดู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D3AC0-7F38-4633-AD2E-FC7C77E6B4B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5429C0-94A2-4CEA-A9D7-14EC6133B78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121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59D58DE-A1FA-4CA0-A9E2-C33EF3E961A9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ถ้ามีรุ่นรถ pending ให้ตรวจแบบไม่เดา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28D8A5-8882-46CD-86FA-6D9FF437FE9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E5DAF-01CF-4CB5-8B69-D9D0DB957B53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572000" cy="333375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83511-0708-406E-A330-10B30563EDE9}"/>
              </a:ext>
            </a:extLst>
          </p:cNvPr>
          <p:cNvSpPr>
            <a:spLocks noGrp="1"/>
          </p:cNvSpPr>
          <p:nvPr/>
        </p:nvSpPr>
        <p:spPr>
          <a:xfrm>
            <a:off x="1066800" y="20574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เปิดไฟล์เดียว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F12F5-0A77-4379-83EC-617205A5B611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3619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backend\config\</a:t>
            </a:r>
          </a:p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model_powertrain_review.csv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89499-8F2D-431F-B393-40432135D3DE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ถ้าไม่มั่นใจ ให้ปล่อย pending ไว้ก่อน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6DD5AF-C1C6-486B-A4CB-0071584A7E10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candidate_powertrain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8EB67-28D7-450C-AAD4-743EBF320A09}"/>
              </a:ext>
            </a:extLst>
          </p:cNvPr>
          <p:cNvSpPr>
            <a:spLocks noGrp="1"/>
          </p:cNvSpPr>
          <p:nvPr/>
        </p:nvSpPr>
        <p:spPr>
          <a:xfrm>
            <a:off x="8953500" y="16954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BEV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03F14-FDB2-4D3C-B23B-AB4C883C4AA3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review_status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7C5AC-3B2D-4189-A408-E7F37C717BA6}"/>
              </a:ext>
            </a:extLst>
          </p:cNvPr>
          <p:cNvSpPr>
            <a:spLocks noGrp="1"/>
          </p:cNvSpPr>
          <p:nvPr/>
        </p:nvSpPr>
        <p:spPr>
          <a:xfrm>
            <a:off x="8953500" y="23241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approved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DE44F0-5ECC-4EFF-9161-37C9A080B606}"/>
              </a:ext>
            </a:extLst>
          </p:cNvPr>
          <p:cNvSpPr>
            <a:spLocks noGrp="1"/>
          </p:cNvSpPr>
          <p:nvPr/>
        </p:nvSpPr>
        <p:spPr>
          <a:xfrm>
            <a:off x="6096000" y="295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914124-281A-49AA-A425-C8EBB48203F4}"/>
              </a:ext>
            </a:extLst>
          </p:cNvPr>
          <p:cNvSpPr>
            <a:spLocks noGrp="1"/>
          </p:cNvSpPr>
          <p:nvPr/>
        </p:nvSpPr>
        <p:spPr>
          <a:xfrm>
            <a:off x="8953500" y="2952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หลักฐานจริง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13E610-B204-4F9B-8AD9-1A2785624017}"/>
              </a:ext>
            </a:extLst>
          </p:cNvPr>
          <p:cNvSpPr>
            <a:spLocks noGrp="1"/>
          </p:cNvSpPr>
          <p:nvPr/>
        </p:nvSpPr>
        <p:spPr>
          <a:xfrm>
            <a:off x="6096000" y="35814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reviewer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88A49-192C-4BFC-83CE-A73DB54FF40A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ชื่อคนตรวจ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0D8D61-2ABE-4C38-B7FD-D2667B47C8C4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reviewed_at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D68989-56A1-4F2E-9B4E-1DD10A6B6C80}"/>
              </a:ext>
            </a:extLst>
          </p:cNvPr>
          <p:cNvSpPr>
            <a:spLocks noGrp="1"/>
          </p:cNvSpPr>
          <p:nvPr/>
        </p:nvSpPr>
        <p:spPr>
          <a:xfrm>
            <a:off x="8953500" y="4210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YYYY-MM-DD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866EBB-E718-48CF-87CA-0D7D34D5B1DA}"/>
              </a:ext>
            </a:extLst>
          </p:cNvPr>
          <p:cNvSpPr>
            <a:spLocks noGrp="1"/>
          </p:cNvSpPr>
          <p:nvPr/>
        </p:nvSpPr>
        <p:spPr>
          <a:xfrm>
            <a:off x="6096000" y="52006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91C1C"/>
                </a:solidFill>
              </a:defRPr>
            </a:pPr>
            <a:r>
              <a:rPr sz="1950" b="1">
                <a:solidFill>
                  <a:srgbClr val="B91C1C"/>
                </a:solidFill>
              </a:rPr>
              <a:t>ใช้ BEV ไม่ใช่ EV และต้องมีหลักฐานก่อน approved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B9724-6D47-40C4-BDAC-AD9C979C142B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43DBF4-0B15-4E3D-B3F8-5E003459802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268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07BB99F-8C88-480C-848A-3562E49D28CC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อ่านผลลัพธ์หลังรันจากคำขึ้นต้น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CB8090-F59A-4D1D-A688-A93E1002B062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FC621-7493-4211-8758-C17285DAAF1D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3048000" cy="2381250"/>
          </a:xfrm>
          <a:prstGeom prst="rect">
            <a:avLst/>
          </a:prstGeom>
          <a:solidFill>
            <a:srgbClr val="D1FAE5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E5E19-688F-415B-90EE-A5B4AC34DBEA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สำเร็จ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CE737-99B5-406B-B191-1994C48DDBC9}"/>
              </a:ext>
            </a:extLst>
          </p:cNvPr>
          <p:cNvSpPr>
            <a:spLocks noGrp="1"/>
          </p:cNvSpPr>
          <p:nvPr/>
        </p:nvSpPr>
        <p:spPr>
          <a:xfrm>
            <a:off x="971550" y="320040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ข้อมูลใหม่เผยแพร่แล้ว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809A1-AE2E-4C1B-A64F-8E0D04659654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3048000" cy="2381250"/>
          </a:xfrm>
          <a:prstGeom prst="rect">
            <a:avLst/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055D7-85D3-436C-8F32-F5A06194ABD9}"/>
              </a:ext>
            </a:extLst>
          </p:cNvPr>
          <p:cNvSpPr>
            <a:spLocks noGrp="1"/>
          </p:cNvSpPr>
          <p:nvPr/>
        </p:nvSpPr>
        <p:spPr>
          <a:xfrm>
            <a:off x="4591050" y="23812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92400E"/>
                </a:solidFill>
              </a:defRPr>
            </a:pPr>
            <a:r>
              <a:rPr sz="2550" b="1">
                <a:solidFill>
                  <a:srgbClr val="92400E"/>
                </a:solidFill>
              </a:rPr>
              <a:t>ต้องตรวจเพิ่ม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3B7CA-6748-4146-ADF9-2A6F3848DA6A}"/>
              </a:ext>
            </a:extLst>
          </p:cNvPr>
          <p:cNvSpPr>
            <a:spLocks noGrp="1"/>
          </p:cNvSpPr>
          <p:nvPr/>
        </p:nvSpPr>
        <p:spPr>
          <a:xfrm>
            <a:off x="4591050" y="320040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เผยแพร่แล้ว แต่มีรุ่นใหม่รอ review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BDBBC-A667-48B6-BC03-AC256E861BB5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048000" cy="2381250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BF44C-0A9E-49FD-9067-09C211C03F04}"/>
              </a:ext>
            </a:extLst>
          </p:cNvPr>
          <p:cNvSpPr>
            <a:spLocks noGrp="1"/>
          </p:cNvSpPr>
          <p:nvPr/>
        </p:nvSpPr>
        <p:spPr>
          <a:xfrm>
            <a:off x="8210550" y="23812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B91C1C"/>
                </a:solidFill>
              </a:defRPr>
            </a:pPr>
            <a:r>
              <a:rPr sz="2550" b="1">
                <a:solidFill>
                  <a:srgbClr val="B91C1C"/>
                </a:solidFill>
              </a:rPr>
              <a:t>ไม่สำเร็จ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EDDB3B-C65F-427D-AB2E-723E8E5894B9}"/>
              </a:ext>
            </a:extLst>
          </p:cNvPr>
          <p:cNvSpPr>
            <a:spLocks noGrp="1"/>
          </p:cNvSpPr>
          <p:nvPr/>
        </p:nvSpPr>
        <p:spPr>
          <a:xfrm>
            <a:off x="8210550" y="320040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ข้อมูลเก่ายังอยู่ ให้แก้ตามข้อความ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F5F034-6AEC-48AE-A8F4-8C2970D4089F}"/>
              </a:ext>
            </a:extLst>
          </p:cNvPr>
          <p:cNvSpPr>
            <a:spLocks noGrp="1"/>
          </p:cNvSpPr>
          <p:nvPr/>
        </p:nvSpPr>
        <p:spPr>
          <a:xfrm>
            <a:off x="1104900" y="51435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อ่านรายละเอียดใน reports\monthly_operator_summary.txt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1CCC0-75FA-441E-AEC9-B300CEAF6FF4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5924F-9487-4D64-8C42-66B39DACAFC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027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A781A2-8CEF-4A0D-A465-7FBCBD364715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หน้า Manual Report รอบนี้ปรับให้อ่านง่ายขึ้น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33418-5654-428D-B6BB-B0C40778767C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4E0F6F-E74D-4C1B-A962-153013FF78ED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เปิดที่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03742-CAA8-420F-BF02-4C5CCE75FE3F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http://localhost:3001/report/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B1C39-9FFE-432C-81C9-9327099A381A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4000500" cy="2667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7F5F8-0D61-442F-B84E-703D2B4499D0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Sheet 8.Model Top Rank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24A9C1-35C1-4511-95D1-FA2C3EE6C387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เริ่มต้นจะซ่อนคอลัมน์เดือนล่าสุด</a:t>
            </a:r>
          </a:p>
          <a:p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กด Show / Hide เพื่อดูหรือซ่อน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06B17-3D5D-4116-912D-15A461EF04C0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895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ชื่อเดือนและปีมาจากข้อมูลจริง ไม่ได้พิมพ์ค้างไว้ในโค้ด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0DB11-B0F3-4F4C-A0EF-2CC45CF66122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77E969-C97A-42E3-82A0-95E406C61A8A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101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3DC5ABA-E498-4783-83DB-D1C44EEACDB6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571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B91C1C"/>
                </a:solidFill>
              </a:defRPr>
            </a:pPr>
            <a:r>
              <a:rPr sz="3300" b="1">
                <a:solidFill>
                  <a:srgbClr val="B91C1C"/>
                </a:solidFill>
              </a:rPr>
              <a:t>สิ่งที่ห้ามทำ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B428A8-3C8C-4A34-A265-967A55301BC3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382BD-4C51-4E16-843E-E03FD36CB9CA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432827-838F-4871-9879-E945663517BA}"/>
              </a:ext>
            </a:extLst>
          </p:cNvPr>
          <p:cNvSpPr>
            <a:spLocks noGrp="1"/>
          </p:cNvSpPr>
          <p:nvPr/>
        </p:nvSpPr>
        <p:spPr>
          <a:xfrm>
            <a:off x="1504950" y="167640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ห้ามเดา BEV จากชื่อรุ่น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8C999-3993-4ADA-AA5F-AFFD7D3FB15A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7D0B3-6FB9-4508-9473-AE3BD8105BA7}"/>
              </a:ext>
            </a:extLst>
          </p:cNvPr>
          <p:cNvSpPr>
            <a:spLocks noGrp="1"/>
          </p:cNvSpPr>
          <p:nvPr/>
        </p:nvSpPr>
        <p:spPr>
          <a:xfrm>
            <a:off x="1504950" y="23431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ห้ามใช้คำว่า EV แทน BEV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AC515-C02A-4868-9D60-CCCC9BE1B3A0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3ABEF-93EB-4A0D-8280-5944D9E90DA7}"/>
              </a:ext>
            </a:extLst>
          </p:cNvPr>
          <p:cNvSpPr>
            <a:spLocks noGrp="1"/>
          </p:cNvSpPr>
          <p:nvPr/>
        </p:nvSpPr>
        <p:spPr>
          <a:xfrm>
            <a:off x="1504950" y="300990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ห้ามแก้ไฟล์โค้ด .py หรือไฟล์ JSON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CE4796-AFF0-422F-AA9E-96F9D912BAE3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738A1-A060-44F4-B290-D6754B2CA7A8}"/>
              </a:ext>
            </a:extLst>
          </p:cNvPr>
          <p:cNvSpPr>
            <a:spLocks noGrp="1"/>
          </p:cNvSpPr>
          <p:nvPr/>
        </p:nvSpPr>
        <p:spPr>
          <a:xfrm>
            <a:off x="1504950" y="36766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ห้ามลบไฟล์ใน backend\config\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68F5A-DD26-4F89-BF53-5416B33DB639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55ACA-72BA-4BAB-A1B8-7FFF602BCA6F}"/>
              </a:ext>
            </a:extLst>
          </p:cNvPr>
          <p:cNvSpPr>
            <a:spLocks noGrp="1"/>
          </p:cNvSpPr>
          <p:nvPr/>
        </p:nvSpPr>
        <p:spPr>
          <a:xfrm>
            <a:off x="1504950" y="434340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ห้ามเปิด Excel ค้างไว้ตอนรันอัปเดต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4BA4A5-1C70-420B-8CE4-B38544742FB0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5C8B2-AFEA-44A2-B8AA-65F4AFFB3E08}"/>
              </a:ext>
            </a:extLst>
          </p:cNvPr>
          <p:cNvSpPr>
            <a:spLocks noGrp="1"/>
          </p:cNvSpPr>
          <p:nvPr/>
        </p:nvSpPr>
        <p:spPr>
          <a:xfrm>
            <a:off x="1504950" y="50101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ห้ามปิดหน้าต่างระหว่างโปรแกรมกำลังทำงาน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E84E04-BD7E-4B12-A5FB-29C2019AA043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BC3E9-88C0-414E-8DA5-B63C2DB652C6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607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6694BB4-AAED-4F0A-8383-AF90D627AD5E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ถ้าติดปัญหา อย่าแก้เอง ให้ส่งหลักฐาน 3 อย่าง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5BF9B-1FEB-45D7-8A17-DF43C5ED7C8B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92400E"/>
          </a:solidFill>
          <a:ln w="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56DB5-9D72-433D-8980-994224D22080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8763000" cy="7239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06EF88-54A2-453F-83B4-BE6129B8A386}"/>
              </a:ext>
            </a:extLst>
          </p:cNvPr>
          <p:cNvSpPr>
            <a:spLocks noGrp="1"/>
          </p:cNvSpPr>
          <p:nvPr/>
        </p:nvSpPr>
        <p:spPr>
          <a:xfrm>
            <a:off x="1238250" y="194310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92400E"/>
                </a:solidFill>
              </a:defRPr>
            </a:pPr>
            <a:r>
              <a:rPr sz="2550" b="1">
                <a:solidFill>
                  <a:srgbClr val="92400E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DAACD2-94CD-4BA4-9919-72438B7B521C}"/>
              </a:ext>
            </a:extLst>
          </p:cNvPr>
          <p:cNvSpPr>
            <a:spLocks noGrp="1"/>
          </p:cNvSpPr>
          <p:nvPr/>
        </p:nvSpPr>
        <p:spPr>
          <a:xfrm>
            <a:off x="2000250" y="19812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รูปหน้าจอ error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B32CC8-331C-48D9-BB60-72C24DAFC4BB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8763000" cy="7239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2FC41B-6FFA-4C67-AD2F-4ADCAB176C35}"/>
              </a:ext>
            </a:extLst>
          </p:cNvPr>
          <p:cNvSpPr>
            <a:spLocks noGrp="1"/>
          </p:cNvSpPr>
          <p:nvPr/>
        </p:nvSpPr>
        <p:spPr>
          <a:xfrm>
            <a:off x="1238250" y="300990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92400E"/>
                </a:solidFill>
              </a:defRPr>
            </a:pPr>
            <a:r>
              <a:rPr sz="2550" b="1">
                <a:solidFill>
                  <a:srgbClr val="92400E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E9A8A4-B3D7-4C1C-89E2-6E6D058433ED}"/>
              </a:ext>
            </a:extLst>
          </p:cNvPr>
          <p:cNvSpPr>
            <a:spLocks noGrp="1"/>
          </p:cNvSpPr>
          <p:nvPr/>
        </p:nvSpPr>
        <p:spPr>
          <a:xfrm>
            <a:off x="2000250" y="30480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reports\monthly_operator_summary.txt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6E70F8-0D27-4D5A-A345-FA70D871BD1A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8763000" cy="7239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0CC3A-CE8D-4586-913E-42B0E2947434}"/>
              </a:ext>
            </a:extLst>
          </p:cNvPr>
          <p:cNvSpPr>
            <a:spLocks noGrp="1"/>
          </p:cNvSpPr>
          <p:nvPr/>
        </p:nvSpPr>
        <p:spPr>
          <a:xfrm>
            <a:off x="1238250" y="4076700"/>
            <a:ext cx="457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92400E"/>
                </a:solidFill>
              </a:defRPr>
            </a:pPr>
            <a:r>
              <a:rPr sz="2550" b="1">
                <a:solidFill>
                  <a:srgbClr val="92400E"/>
                </a:solidFill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09FA3-99D1-471C-AD24-CCC0E08D06FD}"/>
              </a:ext>
            </a:extLst>
          </p:cNvPr>
          <p:cNvSpPr>
            <a:spLocks noGrp="1"/>
          </p:cNvSpPr>
          <p:nvPr/>
        </p:nvSpPr>
        <p:spPr>
          <a:xfrm>
            <a:off x="2000250" y="41148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ไฟล์ล่าสุดในโฟลเดอร์ logs\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817181-26CE-40DE-B04E-FA74F11785BA}"/>
              </a:ext>
            </a:extLst>
          </p:cNvPr>
          <p:cNvSpPr>
            <a:spLocks noGrp="1"/>
          </p:cNvSpPr>
          <p:nvPr/>
        </p:nvSpPr>
        <p:spPr>
          <a:xfrm>
            <a:off x="1123950" y="5391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47857"/>
                </a:solidFill>
              </a:defRPr>
            </a:pPr>
            <a:r>
              <a:rPr sz="2250" b="1" dirty="0" err="1">
                <a:solidFill>
                  <a:srgbClr val="047857"/>
                </a:solidFill>
              </a:rPr>
              <a:t>ส่งให้</a:t>
            </a:r>
            <a:r>
              <a:rPr lang="en-US" sz="2250" b="1" dirty="0">
                <a:solidFill>
                  <a:srgbClr val="047857"/>
                </a:solidFill>
              </a:rPr>
              <a:t> AI</a:t>
            </a:r>
            <a:r>
              <a:rPr sz="2250" b="1" dirty="0">
                <a:solidFill>
                  <a:srgbClr val="047857"/>
                </a:solidFill>
              </a:rPr>
              <a:t> </a:t>
            </a:r>
            <a:r>
              <a:rPr sz="2250" b="1" dirty="0" err="1">
                <a:solidFill>
                  <a:srgbClr val="047857"/>
                </a:solidFill>
              </a:rPr>
              <a:t>แล้วรอคำแนะนำ</a:t>
            </a:r>
            <a:endParaRPr sz="2250" b="1" dirty="0">
              <a:solidFill>
                <a:srgbClr val="04785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BF934-1F09-451A-BDB9-25DCE8B3663B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คู่มือส่งมอบระบบ Dashboard รถใหม่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E96A68-E1A5-4BBA-AC84-5DAAF4E3A035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22096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DocSecurity>0</DocSecurity>
  <PresentationFormat>Widescreen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Thanadon Chutrakoon</cp:lastModifiedBy>
  <cp:revision>1</cp:revision>
  <dcterms:created xsi:type="dcterms:W3CDTF">2026-07-24T10:49:51Z</dcterms:created>
  <dcterms:modified xsi:type="dcterms:W3CDTF">2026-07-29T18:03:26Z</dcterms:modified>
</cp:coreProperties>
</file>